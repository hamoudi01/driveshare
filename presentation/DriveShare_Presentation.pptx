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7812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moudi01/driveshar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youtube.com/watch?v=4TP9Hs1YV84" TargetMode="External"/><Relationship Id="rId4" Type="http://schemas.openxmlformats.org/officeDocument/2006/relationships/hyperlink" Target="https://www.youtube.com/watch?v=JOSnEIb4P3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C94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 rot="16200000">
            <a:off x="137160" y="73152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5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DRIVE SHARE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3840480" y="11887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Peer-to-Peer Car Rental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0" y="1920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 476 — Term Project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40480" y="2331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Michigan — Dearborn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697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Winter 2026  |  Individual Submission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0" y="4572000"/>
            <a:ext cx="5669280" cy="571500"/>
          </a:xfrm>
          <a:prstGeom prst="rect">
            <a:avLst/>
          </a:prstGeom>
          <a:solidFill>
            <a:srgbClr val="1A18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0" y="4617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13, 2026  |  Michael Berry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4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solidFill>
            <a:srgbClr val="1A1814"/>
          </a:solidFill>
          <a:ln w="12700">
            <a:solidFill>
              <a:srgbClr val="C94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0241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26187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DriveShare is and what problem it solves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502920" cy="502920"/>
          </a:xfrm>
          <a:prstGeom prst="rect">
            <a:avLst/>
          </a:prstGeom>
          <a:solidFill>
            <a:srgbClr val="C94B2A"/>
          </a:solidFill>
          <a:ln w="12700">
            <a:solidFill>
              <a:srgbClr val="C94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7830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020824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through all implemented features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502920" cy="502920"/>
          </a:xfrm>
          <a:prstGeom prst="rect">
            <a:avLst/>
          </a:prstGeom>
          <a:solidFill>
            <a:srgbClr val="1A1814"/>
          </a:solidFill>
          <a:ln w="12700">
            <a:solidFill>
              <a:srgbClr val="C94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523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54203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Patterns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2779776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6 patterns: Singleton, Observer, Mediator, Builder, Proxy, Chain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82696"/>
            <a:ext cx="502920" cy="502920"/>
          </a:xfrm>
          <a:prstGeom prst="rect">
            <a:avLst/>
          </a:prstGeom>
          <a:solidFill>
            <a:srgbClr val="1A1814"/>
          </a:solidFill>
          <a:ln w="12700">
            <a:solidFill>
              <a:srgbClr val="C94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282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30098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3538728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tables and their relationships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41648"/>
            <a:ext cx="502920" cy="502920"/>
          </a:xfrm>
          <a:prstGeom prst="rect">
            <a:avLst/>
          </a:prstGeom>
          <a:solidFill>
            <a:srgbClr val="1A1814"/>
          </a:solidFill>
          <a:ln w="12700">
            <a:solidFill>
              <a:srgbClr val="C94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041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405993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Completed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4297680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feature checklist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4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DriveShare?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web-based peer-to-peer car rental platform connecting car owners with renters — inspired by Turo.com.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Python (Flask) + SQLite + HTML/CSS.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846320" y="1417320"/>
            <a:ext cx="3840480" cy="384048"/>
          </a:xfrm>
          <a:prstGeom prst="rect">
            <a:avLst/>
          </a:prstGeom>
          <a:solidFill>
            <a:srgbClr val="1A1814"/>
          </a:solidFill>
          <a:ln w="12700">
            <a:solidFill>
              <a:srgbClr val="2E2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4813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148132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 + Flask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892808"/>
            <a:ext cx="3840480" cy="384048"/>
          </a:xfrm>
          <a:prstGeom prst="rect">
            <a:avLst/>
          </a:prstGeom>
          <a:solidFill>
            <a:srgbClr val="1A1814"/>
          </a:solidFill>
          <a:ln w="12700">
            <a:solidFill>
              <a:srgbClr val="2E2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9568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195681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(built-in)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368296"/>
            <a:ext cx="3840480" cy="384048"/>
          </a:xfrm>
          <a:prstGeom prst="rect">
            <a:avLst/>
          </a:prstGeom>
          <a:solidFill>
            <a:srgbClr val="1A1814"/>
          </a:solidFill>
          <a:ln w="12700">
            <a:solidFill>
              <a:srgbClr val="2E2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243230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243230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/ CSS3 / Jinja2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843784"/>
            <a:ext cx="3840480" cy="384048"/>
          </a:xfrm>
          <a:prstGeom prst="rect">
            <a:avLst/>
          </a:prstGeom>
          <a:solidFill>
            <a:srgbClr val="1A1814"/>
          </a:solidFill>
          <a:ln w="12700">
            <a:solidFill>
              <a:srgbClr val="2E2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29077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0" y="29077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hashing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1828800" cy="1463040"/>
          </a:xfrm>
          <a:prstGeom prst="rect">
            <a:avLst/>
          </a:prstGeom>
          <a:solidFill>
            <a:srgbClr val="1A1814"/>
          </a:solidFill>
          <a:ln w="12700">
            <a:solidFill>
              <a:srgbClr val="C94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291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94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457200" y="3977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Cars Listed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0" y="3200400"/>
            <a:ext cx="1828800" cy="1463040"/>
          </a:xfrm>
          <a:prstGeom prst="rect">
            <a:avLst/>
          </a:prstGeom>
          <a:solidFill>
            <a:srgbClr val="1A1814"/>
          </a:solidFill>
          <a:ln w="12700">
            <a:solidFill>
              <a:srgbClr val="C94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560320" y="3291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94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2560320" y="3977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Users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3200400"/>
            <a:ext cx="1828800" cy="1463040"/>
          </a:xfrm>
          <a:prstGeom prst="rect">
            <a:avLst/>
          </a:prstGeom>
          <a:solidFill>
            <a:srgbClr val="1A1814"/>
          </a:solidFill>
          <a:ln w="12700">
            <a:solidFill>
              <a:srgbClr val="C94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63440" y="3291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94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4663440" y="3977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Tables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66560" y="3200400"/>
            <a:ext cx="1828800" cy="1463040"/>
          </a:xfrm>
          <a:prstGeom prst="rect">
            <a:avLst/>
          </a:prstGeom>
          <a:solidFill>
            <a:srgbClr val="1A1814"/>
          </a:solidFill>
          <a:ln w="12700">
            <a:solidFill>
              <a:srgbClr val="C94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766560" y="3291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94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4800" dirty="0"/>
          </a:p>
        </p:txBody>
      </p:sp>
      <p:sp>
        <p:nvSpPr>
          <p:cNvPr id="30" name="Text 28"/>
          <p:cNvSpPr/>
          <p:nvPr/>
        </p:nvSpPr>
        <p:spPr>
          <a:xfrm>
            <a:off x="6766560" y="3977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Patterns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4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Features Implemented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Registration + 3 Security Questions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361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Password Hashing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066544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06654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Listing with Builder Pattern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596896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5968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Price, Availability, Image, Delist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127248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1272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Date-Overlap Prevention (no double booking)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365760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6576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Location, Dates, Max Price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418795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1879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All cars (no location required)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100584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0640" y="1005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Watchlist with Price Alert Threshold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153619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20640" y="15361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 Notifications on Price Drop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2066544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206654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Messaging (Mediator Pattern)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2596896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20640" y="25968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Auto-messages on Booking &amp; Payment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3127248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20640" y="31272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with Wallet Balance (Proxy)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54880" y="365760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20640" y="36576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Rental History (owner + renter view)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54880" y="418795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20640" y="41879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&amp; Star Ratings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4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Patterns — Singleton &amp; Observer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3931920"/>
          </a:xfrm>
          <a:prstGeom prst="rect">
            <a:avLst/>
          </a:prstGeom>
          <a:solidFill>
            <a:srgbClr val="1A1814"/>
          </a:solidFill>
          <a:ln w="25400">
            <a:solidFill>
              <a:srgbClr val="C94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SINGLETON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only ONE session manager exists throughout the app. All auth goes through UserSession.get_instance().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Singleton Class → UserSession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7249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Factory Method → get_instance()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07238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Resource → Flask session dict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3749040" cy="292608"/>
          </a:xfrm>
          <a:prstGeom prst="rect">
            <a:avLst/>
          </a:prstGeom>
          <a:solidFill>
            <a:srgbClr val="1E1210"/>
          </a:solidFill>
          <a:ln w="12700">
            <a:solidFill>
              <a:srgbClr val="C94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354787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4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login()  logout()  is_logged_in()  get_instance()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868680"/>
            <a:ext cx="4114800" cy="3931920"/>
          </a:xfrm>
          <a:prstGeom prst="rect">
            <a:avLst/>
          </a:prstGeom>
          <a:solidFill>
            <a:srgbClr val="1A1814"/>
          </a:solidFill>
          <a:ln w="254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960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OBSERVER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Watchlist Notifications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66420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Renters subscribe to car listings. When price drops or a car is re-listed, all watchers are automatically notified.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377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Subject → CarListingSubject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697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Abstract Observer → RenterObserver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017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Concrete Observer → WatchlistObserver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337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Helper → notify_watchers()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3611880"/>
            <a:ext cx="3749040" cy="292608"/>
          </a:xfrm>
          <a:prstGeom prst="rect">
            <a:avLst/>
          </a:prstGeom>
          <a:solidFill>
            <a:srgbClr val="1A161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83480" y="354787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attach()  detach()  notify_observers()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4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Patterns — Mediator &amp; Builder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3931920"/>
          </a:xfrm>
          <a:prstGeom prst="rect">
            <a:avLst/>
          </a:prstGeom>
          <a:solidFill>
            <a:srgbClr val="1A1814"/>
          </a:solidFill>
          <a:ln w="254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MEDIATOR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DriveShareMediator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Coordinates Search, Booking, and Message components. They never call each other directly — all events route through the Mediator.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Abstract Mediator → UIMediator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Concrete Mediator → DriveShareMediator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Colleague 1 → SearchComponent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Colleague 2 → BookingComponent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Colleague 3 → MessageComponent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868680"/>
            <a:ext cx="4114800" cy="3931920"/>
          </a:xfrm>
          <a:prstGeom prst="rect">
            <a:avLst/>
          </a:prstGeom>
          <a:solidFill>
            <a:srgbClr val="1A1814"/>
          </a:solidFill>
          <a:ln w="254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960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CarListingBuilder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66420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Constructs car listing objects step-by-step using a fluent interface. Required fields validated at build() time.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377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Abstract Builder → CarListingBuilder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697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Concrete Builder → ConcreteCarBuilder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017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Product → CarListing dict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337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Director → new_car() route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3593592"/>
            <a:ext cx="3749040" cy="292608"/>
          </a:xfrm>
          <a:prstGeom prst="rect">
            <a:avLst/>
          </a:prstGeom>
          <a:solidFill>
            <a:srgbClr val="101A10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83480" y="354787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.set_basic_info().set_price()...build()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4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Patterns — Proxy &amp; Chain of Responsibility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3931920"/>
          </a:xfrm>
          <a:prstGeom prst="rect">
            <a:avLst/>
          </a:prstGeom>
          <a:solidFill>
            <a:srgbClr val="1A1814"/>
          </a:solidFill>
          <a:ln w="25400">
            <a:solidFill>
              <a:srgbClr val="AB47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B4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PROXY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B4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PaymentProxy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Intercepts payment calls to validate, log to an audit table, then delegates to RealPaymentService. Client never calls real service directly.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Subject → PaymentService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Real Subject → RealPaymentService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Proxy → PaymentProxy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Client → pay() route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033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B4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 Table: payment_log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868680"/>
            <a:ext cx="4114800" cy="3931920"/>
          </a:xfrm>
          <a:prstGeom prst="rect">
            <a:avLst/>
          </a:prstGeom>
          <a:solidFill>
            <a:srgbClr val="1A1814"/>
          </a:solidFill>
          <a:ln w="25400">
            <a:solidFill>
              <a:srgbClr val="C94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960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CHAIN OF RESPONSIBILITY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Recovery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66420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handlers check three security questions in sequence. All must pass. If any fails, the chain stops.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2331720"/>
            <a:ext cx="2377440" cy="411480"/>
          </a:xfrm>
          <a:prstGeom prst="rect">
            <a:avLst/>
          </a:prstGeom>
          <a:solidFill>
            <a:srgbClr val="1E1210"/>
          </a:solidFill>
          <a:ln w="12700">
            <a:solidFill>
              <a:srgbClr val="C94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0" y="2331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Question1Handler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80760" y="2743200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2898648"/>
            <a:ext cx="2377440" cy="411480"/>
          </a:xfrm>
          <a:prstGeom prst="rect">
            <a:avLst/>
          </a:prstGeom>
          <a:solidFill>
            <a:srgbClr val="1E1210"/>
          </a:solidFill>
          <a:ln w="12700">
            <a:solidFill>
              <a:srgbClr val="C94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0" y="28986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Question2Handler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80760" y="3310128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0" y="3465576"/>
            <a:ext cx="2377440" cy="411480"/>
          </a:xfrm>
          <a:prstGeom prst="rect">
            <a:avLst/>
          </a:prstGeom>
          <a:solidFill>
            <a:srgbClr val="1E1210"/>
          </a:solidFill>
          <a:ln w="12700">
            <a:solidFill>
              <a:srgbClr val="C94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346557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Question3Handler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41605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→ Q2 → Q3  |  All 3 must pass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4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Schema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841248"/>
          </a:xfrm>
          <a:prstGeom prst="rect">
            <a:avLst/>
          </a:prstGeom>
          <a:solidFill>
            <a:srgbClr val="1A1814"/>
          </a:solidFill>
          <a:ln w="12700">
            <a:solidFill>
              <a:srgbClr val="2E2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09728" cy="841248"/>
          </a:xfrm>
          <a:prstGeom prst="rect">
            <a:avLst/>
          </a:prstGeom>
          <a:solidFill>
            <a:srgbClr val="C94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033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3441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users — hashed passwords + 3 security answers + wallet balance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47672"/>
            <a:ext cx="4206240" cy="841248"/>
          </a:xfrm>
          <a:prstGeom prst="rect">
            <a:avLst/>
          </a:prstGeom>
          <a:solidFill>
            <a:srgbClr val="1A1814"/>
          </a:solidFill>
          <a:ln w="12700">
            <a:solidFill>
              <a:srgbClr val="2E2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947672"/>
            <a:ext cx="109728" cy="841248"/>
          </a:xfrm>
          <a:prstGeom prst="rect">
            <a:avLst/>
          </a:prstGeom>
          <a:solidFill>
            <a:srgbClr val="C94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20208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" y="23317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listings — make/model/year/location/price/image/availability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35224"/>
            <a:ext cx="4206240" cy="841248"/>
          </a:xfrm>
          <a:prstGeom prst="rect">
            <a:avLst/>
          </a:prstGeom>
          <a:solidFill>
            <a:srgbClr val="1A1814"/>
          </a:solidFill>
          <a:ln w="12700">
            <a:solidFill>
              <a:srgbClr val="2E2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935224"/>
            <a:ext cx="109728" cy="841248"/>
          </a:xfrm>
          <a:prstGeom prst="rect">
            <a:avLst/>
          </a:prstGeom>
          <a:solidFill>
            <a:srgbClr val="C94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30083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" y="33192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Reservations — car_id, renter_id, dates, total, status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922776"/>
            <a:ext cx="4206240" cy="841248"/>
          </a:xfrm>
          <a:prstGeom prst="rect">
            <a:avLst/>
          </a:prstGeom>
          <a:solidFill>
            <a:srgbClr val="1A1814"/>
          </a:solidFill>
          <a:ln w="12700">
            <a:solidFill>
              <a:srgbClr val="2E2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3922776"/>
            <a:ext cx="109728" cy="841248"/>
          </a:xfrm>
          <a:prstGeom prst="rect">
            <a:avLst/>
          </a:prstGeom>
          <a:solidFill>
            <a:srgbClr val="C94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" y="39959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watchlist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" y="430682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 subscriptions — renter watching a car with price threshold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960120"/>
            <a:ext cx="4206240" cy="841248"/>
          </a:xfrm>
          <a:prstGeom prst="rect">
            <a:avLst/>
          </a:prstGeom>
          <a:solidFill>
            <a:srgbClr val="1A1814"/>
          </a:solidFill>
          <a:ln w="12700">
            <a:solidFill>
              <a:srgbClr val="2E2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960120"/>
            <a:ext cx="109728" cy="841248"/>
          </a:xfrm>
          <a:prstGeom prst="rect">
            <a:avLst/>
          </a:prstGeom>
          <a:solidFill>
            <a:srgbClr val="C94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56048" y="1033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56048" y="13441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Observer-generated alerts — price drops, approvals, payments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947672"/>
            <a:ext cx="4206240" cy="841248"/>
          </a:xfrm>
          <a:prstGeom prst="rect">
            <a:avLst/>
          </a:prstGeom>
          <a:solidFill>
            <a:srgbClr val="1A1814"/>
          </a:solidFill>
          <a:ln w="12700">
            <a:solidFill>
              <a:srgbClr val="2E2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1947672"/>
            <a:ext cx="109728" cy="841248"/>
          </a:xfrm>
          <a:prstGeom prst="rect">
            <a:avLst/>
          </a:prstGeom>
          <a:solidFill>
            <a:srgbClr val="C94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56048" y="20208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56048" y="23317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messaging — sender, receiver, content, read status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935224"/>
            <a:ext cx="4206240" cy="841248"/>
          </a:xfrm>
          <a:prstGeom prst="rect">
            <a:avLst/>
          </a:prstGeom>
          <a:solidFill>
            <a:srgbClr val="1A1814"/>
          </a:solidFill>
          <a:ln w="12700">
            <a:solidFill>
              <a:srgbClr val="2E2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2935224"/>
            <a:ext cx="109728" cy="841248"/>
          </a:xfrm>
          <a:prstGeom prst="rect">
            <a:avLst/>
          </a:prstGeom>
          <a:solidFill>
            <a:srgbClr val="C94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56048" y="30083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956048" y="33192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Post-rental ratings (1-5 stars) + comments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922776"/>
            <a:ext cx="4206240" cy="841248"/>
          </a:xfrm>
          <a:prstGeom prst="rect">
            <a:avLst/>
          </a:prstGeom>
          <a:solidFill>
            <a:srgbClr val="1A1814"/>
          </a:solidFill>
          <a:ln w="12700">
            <a:solidFill>
              <a:srgbClr val="2E2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54880" y="3922776"/>
            <a:ext cx="109728" cy="841248"/>
          </a:xfrm>
          <a:prstGeom prst="rect">
            <a:avLst/>
          </a:prstGeom>
          <a:solidFill>
            <a:srgbClr val="C94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56048" y="39959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payment_log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956048" y="430682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audit trail — every payment attempt logged with outcome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4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Tasks Completed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438912"/>
          </a:xfrm>
          <a:prstGeom prst="rect">
            <a:avLst/>
          </a:prstGeom>
          <a:solidFill>
            <a:srgbClr val="1A1814"/>
          </a:solidFill>
          <a:ln w="12700">
            <a:solidFill>
              <a:srgbClr val="1E1A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99669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Architecture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179576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all 6 design patterns, class diagrams, DB schema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0" y="102412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481328"/>
            <a:ext cx="8595360" cy="438912"/>
          </a:xfrm>
          <a:prstGeom prst="rect">
            <a:avLst/>
          </a:prstGeom>
          <a:solidFill>
            <a:srgbClr val="141210"/>
          </a:solidFill>
          <a:ln w="12700">
            <a:solidFill>
              <a:srgbClr val="1E1A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481328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51790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(app.py)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1700784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routes, all 6 patterns, auth, search, booking, payment, messaging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154533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002536"/>
            <a:ext cx="8595360" cy="438912"/>
          </a:xfrm>
          <a:prstGeom prst="rect">
            <a:avLst/>
          </a:prstGeom>
          <a:solidFill>
            <a:srgbClr val="1A1814"/>
          </a:solidFill>
          <a:ln w="12700">
            <a:solidFill>
              <a:srgbClr val="1E1A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002536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20391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(database.py)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222199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schema — 8 tables, FK constraints, seed data, password hashing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0" y="206654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23744"/>
            <a:ext cx="8595360" cy="438912"/>
          </a:xfrm>
          <a:prstGeom prst="rect">
            <a:avLst/>
          </a:prstGeom>
          <a:solidFill>
            <a:srgbClr val="141210"/>
          </a:solidFill>
          <a:ln w="12700">
            <a:solidFill>
              <a:srgbClr val="1E1A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2523744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25603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(templates/)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27432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HTML pages — dark automotive theme, responsive CSS, Jinja2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0" y="258775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044952"/>
            <a:ext cx="8595360" cy="438912"/>
          </a:xfrm>
          <a:prstGeom prst="rect">
            <a:avLst/>
          </a:prstGeom>
          <a:solidFill>
            <a:srgbClr val="1A1814"/>
          </a:solidFill>
          <a:ln w="12700">
            <a:solidFill>
              <a:srgbClr val="1E1A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3044952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308152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&amp; Booking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" y="3264408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Overlap-safe SQL, date filtering, Show All, price filter, double-booking prevention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0" y="310896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566160"/>
            <a:ext cx="8595360" cy="438912"/>
          </a:xfrm>
          <a:prstGeom prst="rect">
            <a:avLst/>
          </a:prstGeom>
          <a:solidFill>
            <a:srgbClr val="141210"/>
          </a:solidFill>
          <a:ln w="12700">
            <a:solidFill>
              <a:srgbClr val="1E1A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" y="356616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" y="360273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System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" y="3785616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pattern — wallet deduction, audit log, dual notifications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46720" y="363016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087368"/>
            <a:ext cx="8595360" cy="438912"/>
          </a:xfrm>
          <a:prstGeom prst="rect">
            <a:avLst/>
          </a:prstGeom>
          <a:solidFill>
            <a:srgbClr val="1A1814"/>
          </a:solidFill>
          <a:ln w="12700">
            <a:solidFill>
              <a:srgbClr val="1E1A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0040" y="4087368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31520" y="412394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System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1520" y="4306824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Mediator pattern — auto-messages on booking/approval/payment, inbox, compose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46720" y="415137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608576"/>
            <a:ext cx="8595360" cy="438912"/>
          </a:xfrm>
          <a:prstGeom prst="rect">
            <a:avLst/>
          </a:prstGeom>
          <a:solidFill>
            <a:srgbClr val="141210"/>
          </a:solidFill>
          <a:ln w="12700">
            <a:solidFill>
              <a:srgbClr val="1E1A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0040" y="4608576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31520" y="46451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&amp; Presentation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31520" y="482803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project report (Word), presentation slides (PPTX), submission report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046720" y="467258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94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DriveShare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5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 476 — Winter 2026  |  University of Michigan — Dearborn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2852928"/>
            <a:ext cx="4572000" cy="384048"/>
          </a:xfrm>
          <a:prstGeom prst="rect">
            <a:avLst/>
          </a:prstGeom>
          <a:solidFill>
            <a:srgbClr val="1A1814"/>
          </a:solidFill>
          <a:ln w="12700">
            <a:solidFill>
              <a:srgbClr val="2E2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331720" y="2914473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Repository:  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77640" y="2927663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hlinkClick r:id="rId3"/>
              </a:rPr>
              <a:t>Hamoudi01/</a:t>
            </a:r>
            <a:r>
              <a:rPr lang="en-US" sz="1200" dirty="0" err="1">
                <a:hlinkClick r:id="rId3"/>
              </a:rPr>
              <a:t>driveshare</a:t>
            </a:r>
            <a:r>
              <a:rPr lang="en-US" sz="1200" dirty="0">
                <a:hlinkClick r:id="rId3"/>
              </a:rPr>
              <a:t>: CIS 476 Term Project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0" y="3295709"/>
            <a:ext cx="4572000" cy="384048"/>
          </a:xfrm>
          <a:prstGeom prst="rect">
            <a:avLst/>
          </a:prstGeom>
          <a:solidFill>
            <a:srgbClr val="1A1814"/>
          </a:solidFill>
          <a:ln w="12700">
            <a:solidFill>
              <a:srgbClr val="2E2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31720" y="336780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 Presentation: 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77640" y="3584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0" y="4194635"/>
            <a:ext cx="4572000" cy="384048"/>
          </a:xfrm>
          <a:prstGeom prst="rect">
            <a:avLst/>
          </a:prstGeom>
          <a:solidFill>
            <a:srgbClr val="1A1814"/>
          </a:solidFill>
          <a:ln w="12700">
            <a:solidFill>
              <a:srgbClr val="2E2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31720" y="4263565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by: 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77640" y="4258643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Michael Berry |  April 13, 2026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8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Singleton  •  Observer  •  Mediator  •  Builder  •  Proxy  •  Chain of Responsibility</a:t>
            </a:r>
            <a:endParaRPr lang="en-US" sz="110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62DCBA19-663E-CEBA-2772-3D116754AEAE}"/>
              </a:ext>
            </a:extLst>
          </p:cNvPr>
          <p:cNvSpPr/>
          <p:nvPr/>
        </p:nvSpPr>
        <p:spPr>
          <a:xfrm>
            <a:off x="2286000" y="3744996"/>
            <a:ext cx="4572000" cy="384048"/>
          </a:xfrm>
          <a:prstGeom prst="rect">
            <a:avLst/>
          </a:prstGeom>
          <a:solidFill>
            <a:srgbClr val="1A1814"/>
          </a:solidFill>
          <a:ln w="12700">
            <a:solidFill>
              <a:srgbClr val="2E2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ED392798-0EDD-0206-6D1E-4B19DE01FB22}"/>
              </a:ext>
            </a:extLst>
          </p:cNvPr>
          <p:cNvSpPr/>
          <p:nvPr/>
        </p:nvSpPr>
        <p:spPr>
          <a:xfrm>
            <a:off x="2331720" y="38013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Presentation:  </a:t>
            </a:r>
            <a:endParaRPr 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841E17-201E-DD38-C916-8558E8108DEA}"/>
              </a:ext>
            </a:extLst>
          </p:cNvPr>
          <p:cNvSpPr txBox="1"/>
          <p:nvPr/>
        </p:nvSpPr>
        <p:spPr>
          <a:xfrm>
            <a:off x="3977640" y="3790900"/>
            <a:ext cx="21277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hlinkClick r:id="rId4"/>
              </a:rPr>
              <a:t>https://youtu.be/JOSnEIb4P3c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ABA787-2547-46BF-A1D2-282C2624AEEF}"/>
              </a:ext>
            </a:extLst>
          </p:cNvPr>
          <p:cNvSpPr txBox="1"/>
          <p:nvPr/>
        </p:nvSpPr>
        <p:spPr>
          <a:xfrm>
            <a:off x="3977640" y="3335774"/>
            <a:ext cx="21277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hlinkClick r:id="rId5"/>
              </a:rPr>
              <a:t>https://youtu.be/4TP9Hs1YV84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921</Words>
  <Application>Microsoft Office PowerPoint</Application>
  <PresentationFormat>On-screen Show (16:9)</PresentationFormat>
  <Paragraphs>196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DriveShare — CIS 476 Term Project</dc:title>
  <dc:subject>PptxGenJS Presentation</dc:subject>
  <dc:creator>PptxGenJS</dc:creator>
  <cp:lastModifiedBy>M B</cp:lastModifiedBy>
  <cp:revision>6</cp:revision>
  <dcterms:created xsi:type="dcterms:W3CDTF">2026-04-09T01:17:15Z</dcterms:created>
  <dcterms:modified xsi:type="dcterms:W3CDTF">2026-04-12T04:06:53Z</dcterms:modified>
</cp:coreProperties>
</file>